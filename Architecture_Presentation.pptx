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Retail Insights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Enterprise AI-Powered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ADCFC"/>
                </a:solidFill>
              </a:defRPr>
            </a:pPr>
            <a:r>
              <a:t>Multi-Agent Architecture | Scalable to 100GB+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1C7293"/>
                </a:solidFill>
              </a:defRPr>
            </a:pPr>
            <a:r>
              <a:t>Key Features: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Natural language query processing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Multi-agent orchestration with LangGraph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Real-time data analysis with DuckDB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Semantic search using FAISS vectors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Automated insight generation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Interactive Streamlit interface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1C7293"/>
                </a:solidFill>
              </a:defRPr>
            </a:pPr>
            <a:r>
              <a:t>Core Capabilities: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Process 100GB+ datasets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Sub-second query response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Conversational Q&amp;A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Automated business summaries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Data quality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Multi-Agent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88720"/>
            <a:ext cx="1554480" cy="1097280"/>
          </a:xfrm>
          <a:prstGeom prst="roundRect">
            <a:avLst/>
          </a:prstGeom>
          <a:solidFill>
            <a:srgbClr val="1C7293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Query Resolution</a:t>
            </a:r>
          </a:p>
          <a:p>
            <a:r>
              <a:t>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63636"/>
                </a:solidFill>
              </a:defRPr>
            </a:pPr>
            <a:r>
              <a:t>Converts natural language</a:t>
            </a:r>
          </a:p>
          <a:p>
            <a:r>
              <a:t>to structured SQL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74519" y="1645920"/>
            <a:ext cx="365760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51760" y="1188720"/>
            <a:ext cx="1554480" cy="1097280"/>
          </a:xfrm>
          <a:prstGeom prst="roundRect">
            <a:avLst/>
          </a:prstGeom>
          <a:solidFill>
            <a:srgbClr val="1C7293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Extraction</a:t>
            </a:r>
          </a:p>
          <a:p>
            <a: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63636"/>
                </a:solidFill>
              </a:defRPr>
            </a:pPr>
            <a:r>
              <a:t>Executes queries &amp;</a:t>
            </a:r>
          </a:p>
          <a:p>
            <a:r>
              <a:t>retrieves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03320" y="1645920"/>
            <a:ext cx="365760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1554480" cy="1097280"/>
          </a:xfrm>
          <a:prstGeom prst="roundRect">
            <a:avLst/>
          </a:prstGeom>
          <a:solidFill>
            <a:srgbClr val="1C7293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Validation</a:t>
            </a:r>
          </a:p>
          <a:p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63636"/>
                </a:solidFill>
              </a:defRPr>
            </a:pPr>
            <a:r>
              <a:t>Validates results &amp;</a:t>
            </a:r>
          </a:p>
          <a:p>
            <a:r>
              <a:t>data quality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32120" y="1645920"/>
            <a:ext cx="365760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1554480" cy="1097280"/>
          </a:xfrm>
          <a:prstGeom prst="roundRect">
            <a:avLst/>
          </a:prstGeom>
          <a:solidFill>
            <a:srgbClr val="1C7293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Synthesis</a:t>
            </a:r>
          </a:p>
          <a:p>
            <a: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63636"/>
                </a:solidFill>
              </a:defRPr>
            </a:pPr>
            <a:r>
              <a:t>Generates insights in</a:t>
            </a:r>
          </a:p>
          <a:p>
            <a:r>
              <a:t>natural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017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1295C"/>
                </a:solidFill>
              </a:defRPr>
            </a:pPr>
            <a:r>
              <a:t>🔄 Orchestrated by LangGraph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Query 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5486400" cy="365760"/>
          </a:xfrm>
          <a:prstGeom prst="roundRect">
            <a:avLst/>
          </a:prstGeom>
          <a:solidFill>
            <a:srgbClr val="1C7293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User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5486400" cy="365760"/>
          </a:xfrm>
          <a:prstGeom prst="roundRect">
            <a:avLst/>
          </a:prstGeom>
          <a:solidFill>
            <a:srgbClr val="CADCFC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2. Intent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011680"/>
            <a:ext cx="5486400" cy="365760"/>
          </a:xfrm>
          <a:prstGeom prst="roundRect">
            <a:avLst/>
          </a:prstGeom>
          <a:solidFill>
            <a:srgbClr val="1C7293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SQL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468880"/>
            <a:ext cx="5486400" cy="365760"/>
          </a:xfrm>
          <a:prstGeom prst="roundRect">
            <a:avLst/>
          </a:prstGeom>
          <a:solidFill>
            <a:srgbClr val="CADCFC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4. Data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926080"/>
            <a:ext cx="5486400" cy="365760"/>
          </a:xfrm>
          <a:prstGeom prst="roundRect">
            <a:avLst/>
          </a:prstGeom>
          <a:solidFill>
            <a:srgbClr val="1C7293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383280"/>
            <a:ext cx="5486400" cy="365760"/>
          </a:xfrm>
          <a:prstGeom prst="roundRect">
            <a:avLst/>
          </a:prstGeom>
          <a:solidFill>
            <a:srgbClr val="CADCFC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6. Insight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840480"/>
            <a:ext cx="5486400" cy="365760"/>
          </a:xfrm>
          <a:prstGeom prst="roundRect">
            <a:avLst/>
          </a:prstGeom>
          <a:solidFill>
            <a:srgbClr val="1C7293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7. Natural Language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Rectangle 20"/>
          <p:cNvSpPr/>
          <p:nvPr/>
        </p:nvSpPr>
        <p:spPr>
          <a:xfrm>
            <a:off x="7315200" y="1097280"/>
            <a:ext cx="210312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097280"/>
            <a:ext cx="210312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97280"/>
            <a:ext cx="210312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10312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LLM &amp;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OpenAI GPT-4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LangChain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LangSmith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0972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DuckDB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874519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945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PyArrow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146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0972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Vector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5544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FAISS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874519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Sentence 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1945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ChromaDB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0972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UI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5544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Streamlit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874519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Plotly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1945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63636"/>
                </a:solidFill>
              </a:defRPr>
            </a:pPr>
            <a:r>
              <a:t>• Altair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Scalability Architecture (100GB+)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7293"/>
                </a:solidFill>
              </a:defRPr>
            </a:pPr>
            <a: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PySpark/Dask for distributed processing</a:t>
            </a:r>
          </a:p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Parquet columnar storage</a:t>
            </a:r>
          </a:p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Partitioning by date/region</a:t>
            </a:r>
          </a:p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Incremental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7293"/>
                </a:solidFill>
              </a:defRPr>
            </a:pPr>
            <a:r>
              <a:t>Storage &amp;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Cloud Data Warehouse (BigQuery/Snowflake)</a:t>
            </a:r>
          </a:p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Data Lake (S3/GCS)</a:t>
            </a:r>
          </a:p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Delta Lake for ACID</a:t>
            </a:r>
          </a:p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Redis caching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7293"/>
                </a:solidFill>
              </a:defRPr>
            </a:pPr>
            <a:r>
              <a:t>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Materialized views</a:t>
            </a:r>
          </a:p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Query result caching</a:t>
            </a:r>
          </a:p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Vector index sharding</a:t>
            </a:r>
          </a:p>
          <a:p>
            <a:pPr>
              <a:spcAft>
                <a:spcPts val="800"/>
              </a:spcAft>
              <a:defRPr sz="1200">
                <a:solidFill>
                  <a:srgbClr val="363636"/>
                </a:solidFill>
              </a:defRPr>
            </a:pPr>
            <a:r>
              <a:t>• Approximate search (HNSW)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Performance &amp; Monitoring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828800" cy="13716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Query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&lt; 2 seconds</a:t>
            </a:r>
          </a:p>
          <a:p>
            <a:r>
              <a:t>(p95)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371600"/>
            <a:ext cx="1828800" cy="13716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39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39" y="192024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10K rows/sec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59" y="1371600"/>
            <a:ext cx="1828800" cy="137160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92024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95%+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79" y="1371600"/>
            <a:ext cx="1828800" cy="13716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79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192024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100GB+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0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7293"/>
                </a:solidFill>
              </a:defRPr>
            </a:pPr>
            <a:r>
              <a:t>Monitoring Stack:</a:t>
            </a:r>
          </a:p>
          <a:p>
            <a:pPr>
              <a:defRPr sz="1300">
                <a:solidFill>
                  <a:srgbClr val="363636"/>
                </a:solidFill>
              </a:defRPr>
            </a:pPr>
            <a:r>
              <a:t>• LangSmith for LLM tracing and debugging</a:t>
            </a:r>
          </a:p>
          <a:p>
            <a:pPr>
              <a:defRPr sz="1300">
                <a:solidFill>
                  <a:srgbClr val="363636"/>
                </a:solidFill>
              </a:defRPr>
            </a:pPr>
            <a:r>
              <a:t>• Prometheus + Grafana for metrics</a:t>
            </a:r>
          </a:p>
          <a:p>
            <a:pPr>
              <a:defRPr sz="1300">
                <a:solidFill>
                  <a:srgbClr val="363636"/>
                </a:solidFill>
              </a:defRPr>
            </a:pPr>
            <a:r>
              <a:t>• ELK Stack for log aggregation</a:t>
            </a:r>
          </a:p>
          <a:p>
            <a:pPr>
              <a:defRPr sz="1300">
                <a:solidFill>
                  <a:srgbClr val="363636"/>
                </a:solidFill>
              </a:defRPr>
            </a:pPr>
            <a:r>
              <a:t>• Custom dashboards for business KPIs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Use Cases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C7293"/>
                </a:solidFill>
              </a:defRPr>
            </a:pPr>
            <a:r>
              <a:t>Executive Dashboards: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Real-time sales performance monitoring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Automated daily/weekly/monthly reports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Trend analysis and forecasting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</a:p>
          <a:p>
            <a:pPr>
              <a:spcBef>
                <a:spcPts val="1200"/>
              </a:spcBef>
              <a:defRPr sz="1800" b="1">
                <a:solidFill>
                  <a:srgbClr val="1C7293"/>
                </a:solidFill>
              </a:defRPr>
            </a:pPr>
            <a:r>
              <a:t>Business Analytics: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Ad-hoc query answering for analysts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Customer segmentation insights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Product performance analysis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</a:p>
          <a:p>
            <a:pPr>
              <a:spcBef>
                <a:spcPts val="1200"/>
              </a:spcBef>
              <a:defRPr sz="1800" b="1">
                <a:solidFill>
                  <a:srgbClr val="1C7293"/>
                </a:solidFill>
              </a:defRPr>
            </a:pPr>
            <a:r>
              <a:t>Operational Intelligence: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Inventory optimization recommendations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Regional performance comparisons</a:t>
            </a:r>
          </a:p>
          <a:p>
            <a:pPr>
              <a:spcBef>
                <a:spcPts val="600"/>
              </a:spcBef>
              <a:defRPr sz="1400">
                <a:solidFill>
                  <a:srgbClr val="363636"/>
                </a:solidFill>
              </a:defRPr>
            </a:pPr>
            <a:r>
              <a:t>• Anomaly detection and 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Enterprise-Ready AI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ADCFC"/>
                </a:solidFill>
              </a:defRPr>
            </a:pPr>
            <a:r>
              <a:t>✓ Multi-agent architecture for complex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80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ADCFC"/>
                </a:solidFill>
              </a:defRPr>
            </a:pPr>
            <a:r>
              <a:t>✓ Scalable to 100GB+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ADCFC"/>
                </a:solidFill>
              </a:defRPr>
            </a:pPr>
            <a:r>
              <a:t>✓ Sub-second query response 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ADCFC"/>
                </a:solidFill>
              </a:defRPr>
            </a:pPr>
            <a:r>
              <a:t>✓ Natural language interface for all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